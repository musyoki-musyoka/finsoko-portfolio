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ascii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ascii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notesMaster" Target="notesMasters/notesMaster1.xml"/>
  <Relationship Id="rId18" Type="http://schemas.openxmlformats.org/officeDocument/2006/relationships/presProps" Target="presProps.xml"/>
  <Relationship Id="rId19" Type="http://schemas.openxmlformats.org/officeDocument/2006/relationships/viewProps" Target="viewProps.xml"/>
  <Relationship Id="rId20" Type="http://schemas.openxmlformats.org/officeDocument/2006/relationships/theme" Target="theme/theme1.xml"/>
  <Relationship Id="rId21" Type="http://schemas.openxmlformats.org/officeDocument/2006/relationships/tableStyles" Target="tableStyles.xml"/>
</Relationships>

</file>

<file path=ppt/notesMasters/_rels/notesMaster1.xml.rels><?xml version="1.0" encoding="ascii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_rels/notesSlide7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_rels/notesSlide8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/notesSlides/_rels/notesSlide9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ppt/notesSlides/_rels/notesSlide10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ppt/notesSlides/_rels/notesSlide11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1.xml"/>
  
		
</Relationships>

</file>

<file path=ppt/notesSlides/_rels/notesSlide12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2.xml"/>
  
		
</Relationships>

</file>

<file path=ppt/notesSlides/_rels/notesSlide13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3.xml"/>
  
		
</Relationships>

</file>

<file path=ppt/notesSlides/_rels/notesSlide14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4.xml"/>
  
		
</Relationships>

</file>

<file path=ppt/notesSlides/_rels/notesSlide15.xml.rels><?xml version="1.0" encoding="ascii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5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ascii"?>
<Relationships xmlns="http://schemas.openxmlformats.org/package/2006/relationships">
  <Relationship Id="rId1" Type="http://schemas.openxmlformats.org/officeDocument/2006/relationships/image" Target="../media/image-1-1.png"/>
  <Relationship Id="rId2" Type="http://schemas.openxmlformats.org/officeDocument/2006/relationships/image" Target="../media/image-1-2.jpeg"/>
  <Relationship Id="rId3" Type="http://schemas.openxmlformats.org/officeDocument/2006/relationships/slideLayout" Target="../slideLayouts/slideLayout1.xml"/>
  <Relationship Id="rId4" Type="http://schemas.openxmlformats.org/officeDocument/2006/relationships/notesSlide" Target="../notesSlides/notesSlide1.xml"/>
</Relationships>

</file>

<file path=ppt/slides/_rels/slide2.xml.rels><?xml version="1.0" encoding="ascii"?>
<Relationships xmlns="http://schemas.openxmlformats.org/package/2006/relationships">
  <Relationship Id="rId1" Type="http://schemas.openxmlformats.org/officeDocument/2006/relationships/image" Target="../media/image-2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2.xml"/>
</Relationships>

</file>

<file path=ppt/slides/_rels/slide3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ascii"?>
<Relationships xmlns="http://schemas.openxmlformats.org/package/2006/relationships">
  <Relationship Id="rId1" Type="http://schemas.openxmlformats.org/officeDocument/2006/relationships/image" Target="../media/image-4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4.xml"/>
</Relationships>

</file>

<file path=ppt/slides/_rels/slide5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ascii"?>
<Relationships xmlns="http://schemas.openxmlformats.org/package/2006/relationships">
  <Relationship Id="rId1" Type="http://schemas.openxmlformats.org/officeDocument/2006/relationships/image" Target="../media/image-6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6.xml"/>
</Relationships>

</file>

<file path=ppt/slides/_rels/slide7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ascii"?>
<Relationships xmlns="http://schemas.openxmlformats.org/package/2006/relationships">
  <Relationship Id="rId1" Type="http://schemas.openxmlformats.org/officeDocument/2006/relationships/image" Target="../media/image-8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8.xml"/>
</Relationships>

</file>

<file path=ppt/slides/_rels/slide9.xml.rels><?xml version="1.0" encoding="ascii"?>
<Relationships xmlns="http://schemas.openxmlformats.org/package/2006/relationships">
  <Relationship Id="rId1" Type="http://schemas.openxmlformats.org/officeDocument/2006/relationships/image" Target="../media/image-9-1.png"/>
  <Relationship Id="rId2" Type="http://schemas.openxmlformats.org/officeDocument/2006/relationships/image" Target="../media/image-9-2.jpeg"/>
  <Relationship Id="rId3" Type="http://schemas.openxmlformats.org/officeDocument/2006/relationships/slideLayout" Target="../slideLayouts/slideLayout1.xml"/>
  <Relationship Id="rId4" Type="http://schemas.openxmlformats.org/officeDocument/2006/relationships/notesSlide" Target="../notesSlides/notesSlide9.xml"/>
</Relationships>

</file>

<file path=ppt/slides/_rels/slide10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ascii"?>
<Relationships xmlns="http://schemas.openxmlformats.org/package/2006/relationships">
  <Relationship Id="rId1" Type="http://schemas.openxmlformats.org/officeDocument/2006/relationships/image" Target="../media/image-11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1.xml"/>
</Relationships>

</file>

<file path=ppt/slides/_rels/slide12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_rels/slide13.xml.rels><?xml version="1.0" encoding="ascii"?>
<Relationships xmlns="http://schemas.openxmlformats.org/package/2006/relationships">
  <Relationship Id="rId1" Type="http://schemas.openxmlformats.org/officeDocument/2006/relationships/image" Target="../media/image-13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3.xml"/>
</Relationships>

</file>

<file path=ppt/slides/_rels/slide14.xml.rels><?xml version="1.0" encoding="ascii"?>
<Relationships xmlns="http://schemas.openxmlformats.org/package/2006/relationships">
  <Relationship Id="rId1" Type="http://schemas.openxmlformats.org/officeDocument/2006/relationships/image" Target="../media/image-14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4.xml"/>
</Relationships>

</file>

<file path=ppt/slides/_rels/slide15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finsoko-slides/dark-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41A00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/home/z/my-project/public/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000" y="1300000"/>
            <a:ext cx="896000" cy="89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1979265"/>
            <a:ext cx="8595211" cy="56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Ethical Architecture Dossier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751104" y="2847826"/>
            <a:ext cx="564164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FinSoko's Commitment to Dignity-First AI in SACCO Lending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38302" y="3317677"/>
            <a:ext cx="6667396" cy="43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5"/>
              </a:lnSpc>
              <a:spcAft>
                <a:spcPts val="1200"/>
              </a:spcAft>
              <a:buNone/>
            </a:pPr>
            <a:r>
              <a:rPr lang="en-US" sz="1100" i="1" dirty="0">
                <a:solidFill>
                  <a:srgbClr val="F0482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"An AI system that denies 68% of market vendors while approving 78% of formal employees is not broken — it was never built for the people it claims to serve."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605512" y="3875187"/>
            <a:ext cx="3932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Phase 3: Ethical Savannah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finsoko-slides/light-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177701"/>
            <a:ext cx="85344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ETHOS: The Moral Operating System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526852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Five principles that govern every decision our agents make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9600" y="730002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28067" y="802928"/>
            <a:ext cx="15420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66651" y="730002"/>
            <a:ext cx="80773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EMPATHY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66651" y="895052"/>
            <a:ext cx="784113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Agents don't treat members as data points. Scout reads distress, not just keywords. Repayment aligned to harvest cycles — maize farmers earn in October, not January.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9600" y="1308943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32979" y="1381869"/>
            <a:ext cx="1412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66651" y="1308943"/>
            <a:ext cx="80773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66651" y="1473994"/>
            <a:ext cx="784113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decision comes with plain-language explanation via USSD/SMS. Not 'Score: 64/100 — Denied.' But: 'An officer will contact you within 15 minutes.'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9600" y="1887885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C79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23156" y="1960811"/>
            <a:ext cx="16697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66651" y="1887885"/>
            <a:ext cx="80773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HUMAN IMPACT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66651" y="2052935"/>
            <a:ext cx="784113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68% denial rate is Grace waiting for school fees, Amina's inventory running dry, James riding with broken brakes. Target: 37% increase in female vendor approvals, KES 12.4M new lending by Year 3.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9600" y="2466826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B85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18245" y="2539752"/>
            <a:ext cx="17974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66651" y="2466826"/>
            <a:ext cx="80773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66651" y="2631877"/>
            <a:ext cx="784113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Members own their data. Period. No selling, sharing, or monetizing. Members opt in to every collection point. Protected under Kenya DPA 2022, Section 25.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9600" y="3045768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8B2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28067" y="3118693"/>
            <a:ext cx="15420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66651" y="3045768"/>
            <a:ext cx="80773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SOVEREIGNTY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66651" y="3210818"/>
            <a:ext cx="784113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data stored within Kenya. No cross-border transfer. No foreign cloud providers. Protected by Kenyan law, SASRA, CBK, and local data residency.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4150"/>
          </a:xfrm>
          <a:prstGeom prst="rect">
            <a:avLst/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4363"/>
            <a:ext cx="4717331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TRACK: Whose Pain Is in the Data?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60945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 training data only sees formal employees, the system only serves formal employees.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81260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4198" y="877639"/>
            <a:ext cx="13117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202" y="812602"/>
            <a:ext cx="8102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Training Data Provenance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1202" y="977652"/>
            <a:ext cx="786785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Ujima SACCO's 10-year history is skewed toward formal employees. We oversample informal-sector repayments, incorporate M-Pesa histories, weight seasonal income.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9154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970" y="1456581"/>
            <a:ext cx="15497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1202" y="1391543"/>
            <a:ext cx="8102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Representation Audit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1202" y="1556593"/>
            <a:ext cx="786785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Busia County: 71% denial rate — 49 points above baseline. Not a risk signal. A representation failure. System flags any county &gt;30% baseline deviation for mandatory review.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1970484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4970" y="2035522"/>
            <a:ext cx="15497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1202" y="1970484"/>
            <a:ext cx="8102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Amplification 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1202" y="2135535"/>
            <a:ext cx="786785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Without TRACK, Guardian would reproduce historical denials. Counterfactual analysis and de-biasing: occupation taxonomies updated in real time.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600" y="2549426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4970" y="2614464"/>
            <a:ext cx="15497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1202" y="2549426"/>
            <a:ext cx="8102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Counterfactual Testing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1202" y="2714476"/>
            <a:ext cx="786785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 every denial: 'If this applicant were formal employee with identical income, would score change?' Amina's: 'retail trader' → score jumps 72→85. 13-point gap triggers Kill Switch.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312836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4970" y="3193405"/>
            <a:ext cx="15497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1202" y="3128367"/>
            <a:ext cx="8102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Kill Switch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1202" y="3293418"/>
            <a:ext cx="786785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 any demographic denial &gt;30% above baseline, Kill Switch activates: ALL applications in that group → mandatory human review until bias corrected.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finsoko-slides/light-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152251"/>
            <a:ext cx="853440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OASIS: How We Handle Member Data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09600" y="472827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Opt-in by default. Anonymized by design. Sovereign by law.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608237" y="663327"/>
            <a:ext cx="687735" cy="203002"/>
          </a:xfrm>
          <a:prstGeom prst="roundRect">
            <a:avLst>
              <a:gd name="adj" fmla="val 18768"/>
            </a:avLst>
          </a:prstGeom>
          <a:solidFill>
            <a:srgbClr val="B85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84437" y="688628"/>
            <a:ext cx="6959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Member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08622" y="688628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0873" y="663327"/>
            <a:ext cx="563314" cy="203002"/>
          </a:xfrm>
          <a:prstGeom prst="roundRect">
            <a:avLst>
              <a:gd name="adj" fmla="val 18768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537073" y="688628"/>
            <a:ext cx="5341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Opt-in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36838" y="688628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89089" y="663327"/>
            <a:ext cx="617934" cy="203002"/>
          </a:xfrm>
          <a:prstGeom prst="roundRect">
            <a:avLst>
              <a:gd name="adj" fmla="val 18768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265289" y="688628"/>
            <a:ext cx="6051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Collect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19674" y="688628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71925" y="663327"/>
            <a:ext cx="897136" cy="203002"/>
          </a:xfrm>
          <a:prstGeom prst="roundRect">
            <a:avLst>
              <a:gd name="adj" fmla="val 18768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48125" y="688628"/>
            <a:ext cx="9681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Anonymize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81711" y="688628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33963" y="663327"/>
            <a:ext cx="1021259" cy="203002"/>
          </a:xfrm>
          <a:prstGeom prst="roundRect">
            <a:avLst>
              <a:gd name="adj" fmla="val 18768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110163" y="688628"/>
            <a:ext cx="10773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Store(Kenya)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67871" y="688628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20123" y="663327"/>
            <a:ext cx="579090" cy="203002"/>
          </a:xfrm>
          <a:prstGeom prst="roundRect">
            <a:avLst>
              <a:gd name="adj" fmla="val 18768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96323" y="688628"/>
            <a:ext cx="5546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Retain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11863" y="688628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964114" y="663327"/>
            <a:ext cx="571500" cy="203002"/>
          </a:xfrm>
          <a:prstGeom prst="roundRect">
            <a:avLst>
              <a:gd name="adj" fmla="val 18768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040314" y="688628"/>
            <a:ext cx="5448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Delete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9600" y="917079"/>
            <a:ext cx="330101" cy="330101"/>
          </a:xfrm>
          <a:prstGeom prst="roundRect">
            <a:avLst>
              <a:gd name="adj" fmla="val 15389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10357" y="982117"/>
            <a:ext cx="16697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41202" y="917079"/>
            <a:ext cx="8102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Opt-in Consent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41202" y="1082129"/>
            <a:ext cx="786785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Members actively choose. No pre-checked boxes. Grace opts in via USSD (*#700#). Consent is specific, informed, revocable. Kenya DPA 2022, Sec 25.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9600" y="1483370"/>
            <a:ext cx="330101" cy="330101"/>
          </a:xfrm>
          <a:prstGeom prst="roundRect">
            <a:avLst>
              <a:gd name="adj" fmla="val 15389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14970" y="1548408"/>
            <a:ext cx="15497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41202" y="1483370"/>
            <a:ext cx="8102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Anonymization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41202" y="1648420"/>
            <a:ext cx="786785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analytics use anonymized data. Guardian sees 'Applicant #4782, seasonal income, Kakamega' — not names. k-anonymity (min cluster 5).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09600" y="2049661"/>
            <a:ext cx="330101" cy="330101"/>
          </a:xfrm>
          <a:prstGeom prst="roundRect">
            <a:avLst>
              <a:gd name="adj" fmla="val 15389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19584" y="2114699"/>
            <a:ext cx="14317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41202" y="2049661"/>
            <a:ext cx="8102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Sovereignty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41202" y="2214711"/>
            <a:ext cx="810279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data on servers in Kenya. Zero cross-border transfers. Required under Kenya DPA 2022 and SASRA guidelines.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09600" y="2434382"/>
            <a:ext cx="330101" cy="330101"/>
          </a:xfrm>
          <a:prstGeom prst="roundRect">
            <a:avLst>
              <a:gd name="adj" fmla="val 15389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751582" y="2499420"/>
            <a:ext cx="9144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041202" y="2434382"/>
            <a:ext cx="8102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Intentional Retention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41202" y="2599432"/>
            <a:ext cx="786785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Active loan data: loan + 6 months. Denied: 12 months then permanent deletion. Members can request immediate deletion.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09600" y="3000673"/>
            <a:ext cx="330101" cy="330101"/>
          </a:xfrm>
          <a:prstGeom prst="roundRect">
            <a:avLst>
              <a:gd name="adj" fmla="val 15389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719584" y="3065711"/>
            <a:ext cx="14317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1041202" y="3000673"/>
            <a:ext cx="8102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041202" y="3165723"/>
            <a:ext cx="810279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AES-256 at rest, TLS 1.3 in transit. USSD: session-only. M-Pesa: time-limited tokens. Quarterly security audits.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4150"/>
          </a:xfrm>
          <a:prstGeom prst="rect">
            <a:avLst/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4363"/>
            <a:ext cx="4836349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PRIDE: Who Watches the Watchers?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60945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automated system needs human checkpoints.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799951"/>
            <a:ext cx="7924800" cy="615702"/>
          </a:xfrm>
          <a:prstGeom prst="rect">
            <a:avLst/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650" y="799951"/>
            <a:ext cx="0" cy="615702"/>
          </a:xfrm>
          <a:prstGeom prst="line">
            <a:avLst/>
          </a:prstGeom>
          <a:noFill/>
          <a:ln w="38100">
            <a:solidFill>
              <a:srgbClr val="F04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201" y="8507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2218" y="914102"/>
            <a:ext cx="1211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04751" y="850702"/>
            <a:ext cx="80392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Pause Points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751" y="1015752"/>
            <a:ext cx="769455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Triggers: Loan &gt;KES 50K, score 70-89, county denial &gt;30% above baseline, occupation not in taxonomy, member dispute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2000" y="1453753"/>
            <a:ext cx="7772400" cy="615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81050" y="1453753"/>
            <a:ext cx="0" cy="615702"/>
          </a:xfrm>
          <a:prstGeom prst="line">
            <a:avLst/>
          </a:prstGeom>
          <a:noFill/>
          <a:ln w="38100">
            <a:solidFill>
              <a:srgbClr val="F04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1601" y="150450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90749" y="1567904"/>
            <a:ext cx="1311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57151" y="1504504"/>
            <a:ext cx="78868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Review Cadence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57151" y="1669554"/>
            <a:ext cx="753453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Monthly for first 6 months, then quarterly. Examines denial rates, counterfactuals, Kill Switch activations, member feedback.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107555"/>
            <a:ext cx="7620000" cy="615702"/>
          </a:xfrm>
          <a:prstGeom prst="rect">
            <a:avLst/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33450" y="2107555"/>
            <a:ext cx="0" cy="615702"/>
          </a:xfrm>
          <a:prstGeom prst="line">
            <a:avLst/>
          </a:prstGeom>
          <a:noFill/>
          <a:ln w="38100">
            <a:solidFill>
              <a:srgbClr val="F04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4001" y="215830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74254" y="222170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9551" y="2158305"/>
            <a:ext cx="77256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09551" y="2323356"/>
            <a:ext cx="737451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decision includes plain-language explanation. Guardian is rule-based (not black-box) so officers can explain scores.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6800" y="2761357"/>
            <a:ext cx="7467600" cy="615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085850" y="2761357"/>
            <a:ext cx="0" cy="615702"/>
          </a:xfrm>
          <a:prstGeom prst="line">
            <a:avLst/>
          </a:prstGeom>
          <a:noFill/>
          <a:ln w="38100">
            <a:solidFill>
              <a:srgbClr val="F04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6401" y="281210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95549" y="2875508"/>
            <a:ext cx="1311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61951" y="2812107"/>
            <a:ext cx="7558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Disagreement Rights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61951" y="2977158"/>
            <a:ext cx="721449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Members can appeal any decision to a human officer. The system's decision is a recommendation, not a verdict.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19200" y="3415159"/>
            <a:ext cx="7315200" cy="615702"/>
          </a:xfrm>
          <a:prstGeom prst="rect">
            <a:avLst/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238250" y="3415159"/>
            <a:ext cx="0" cy="615702"/>
          </a:xfrm>
          <a:prstGeom prst="line">
            <a:avLst/>
          </a:prstGeom>
          <a:noFill/>
          <a:ln w="38100">
            <a:solidFill>
              <a:srgbClr val="F04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8801" y="346590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451818" y="3529310"/>
            <a:ext cx="1211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14351" y="3465909"/>
            <a:ext cx="742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Elders Council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14351" y="3630960"/>
            <a:ext cx="705447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Community reps + independent auditors. Can suspend agents, modify thresholds, require counterfactual testing, order full audit. The Kill Switch for the Kill Switch.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finsoko-slides/de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01501"/>
            <a:ext cx="853440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HORIZON: What Happens in 5 Years? In 50?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2577703" y="447526"/>
            <a:ext cx="620464" cy="228600"/>
          </a:xfrm>
          <a:prstGeom prst="roundRect">
            <a:avLst>
              <a:gd name="adj" fmla="val 22222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17304" y="485626"/>
            <a:ext cx="4436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9668" y="549176"/>
            <a:ext cx="762000" cy="25301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163169" y="447526"/>
            <a:ext cx="680145" cy="228600"/>
          </a:xfrm>
          <a:prstGeom prst="roundRect">
            <a:avLst>
              <a:gd name="adj" fmla="val 22222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302770" y="485626"/>
            <a:ext cx="5212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 YRS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44814" y="549176"/>
            <a:ext cx="762000" cy="25301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08315" y="447526"/>
            <a:ext cx="757833" cy="228600"/>
          </a:xfrm>
          <a:prstGeom prst="roundRect">
            <a:avLst>
              <a:gd name="adj" fmla="val 22222"/>
            </a:avLst>
          </a:prstGeom>
          <a:solidFill>
            <a:srgbClr val="EC79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47916" y="485626"/>
            <a:ext cx="622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50 YRS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9600" y="7268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98748" y="790277"/>
            <a:ext cx="1311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5150" y="726877"/>
            <a:ext cx="36600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Historical Harm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5150" y="891927"/>
            <a:ext cx="3493718" cy="56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 credit scoring denied Black/Latino applicants for decades. Kenya CRB locked millions out. TRACK and counterfactuals prevent repeating patterns.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9600" y="146640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94879" y="1529804"/>
            <a:ext cx="1412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5150" y="1466404"/>
            <a:ext cx="36600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Opportunity Cost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5150" y="1631454"/>
            <a:ext cx="3493718" cy="56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Without FinSoko, Grace waits, Amina loses inventory, James rides with broken brakes. Inaction is also a choice.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9600" y="220593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98748" y="2269331"/>
            <a:ext cx="1311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5150" y="2205930"/>
            <a:ext cx="38597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Ripple Effects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5150" y="2370981"/>
            <a:ext cx="3493718" cy="56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One loan approval ripples through a community. Grace's children stay in school. Amina employs two women.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9600" y="294545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29853" y="300885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5150" y="2945457"/>
            <a:ext cx="36600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Intergenerational Impact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65150" y="3110508"/>
            <a:ext cx="349371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Scout is a Financial Literacy Coach, not just a loan funnel. Goal: capability, not perpetual borrowing.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470202" y="726877"/>
            <a:ext cx="12650" cy="4162723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660553" y="7268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57589" y="790277"/>
            <a:ext cx="1108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Z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16103" y="726877"/>
            <a:ext cx="36600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Zero-Sum Thinking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16103" y="891927"/>
            <a:ext cx="349371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SACCO gains members and trust. Members gain access and dignity. No loser unless we stop auditing.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660553" y="129182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745831" y="1355229"/>
            <a:ext cx="1412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16103" y="1291828"/>
            <a:ext cx="38597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Open Futures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016103" y="1456879"/>
            <a:ext cx="349371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denial includes an alternative path. No door closes without another opening.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660553" y="185678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749701" y="1920180"/>
            <a:ext cx="1311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16103" y="1856780"/>
            <a:ext cx="36600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Non-Human Impact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016103" y="2021830"/>
            <a:ext cx="3493718" cy="56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Lightweight compute (USSD/SMS). Rule-based architecture — for interpretability AND environmental efficiency.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7701"/>
            <a:ext cx="853440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Regulatory Alignment: Where Ethics Meet the Law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1465659"/>
            <a:ext cx="7924800" cy="253901"/>
          </a:xfrm>
          <a:prstGeom prst="roundRect">
            <a:avLst>
              <a:gd name="adj" fmla="val 20008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516410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516410"/>
            <a:ext cx="670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Regulation / Provision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32211"/>
            <a:ext cx="79248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770311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EMPATHY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770311"/>
            <a:ext cx="670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Kenya DPA 2022, Sec 25 (fair processing)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600" y="1973461"/>
            <a:ext cx="7924800" cy="228600"/>
          </a:xfrm>
          <a:prstGeom prst="rect">
            <a:avLst/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2011561"/>
            <a:ext cx="188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011561"/>
            <a:ext cx="670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Kenya DPA 2022, Sec 26 (right to explanation)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2214711"/>
            <a:ext cx="79248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000" y="2252811"/>
            <a:ext cx="188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HUMAN 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252811"/>
            <a:ext cx="670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SASRA SACCO Guidelines (member welfare)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2455962"/>
            <a:ext cx="7924800" cy="228600"/>
          </a:xfrm>
          <a:prstGeom prst="rect">
            <a:avLst/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2494062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494062"/>
            <a:ext cx="670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Kenya DPA 2022, Sec 35 (access, correct, delete)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2697212"/>
            <a:ext cx="79248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2000" y="2735312"/>
            <a:ext cx="188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SOVEREIGNTY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735312"/>
            <a:ext cx="670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Kenya DPA 2022, Sec 42 (data residency)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2938463"/>
            <a:ext cx="7924800" cy="228600"/>
          </a:xfrm>
          <a:prstGeom prst="rect">
            <a:avLst/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2000" y="2976563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OASIS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2976563"/>
            <a:ext cx="670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Nigeria NDPA (cross-border provisions)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600" y="3179713"/>
            <a:ext cx="79248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62000" y="3217813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PRIDE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217813"/>
            <a:ext cx="670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CBK Lending Guidelines (fair access)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600" y="3420963"/>
            <a:ext cx="7924800" cy="228600"/>
          </a:xfrm>
          <a:prstGeom prst="rect">
            <a:avLst/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62000" y="3459063"/>
            <a:ext cx="188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KILL SWITCH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3459063"/>
            <a:ext cx="670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EU AI Act reference (human oversight)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9600" y="3674864"/>
            <a:ext cx="7924800" cy="298252"/>
          </a:xfrm>
          <a:prstGeom prst="rect">
            <a:avLst/>
          </a:prstGeom>
          <a:solidFill>
            <a:srgbClr val="FB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09600" y="3684389"/>
            <a:ext cx="7924800" cy="0"/>
          </a:xfrm>
          <a:prstGeom prst="line">
            <a:avLst/>
          </a:prstGeom>
          <a:noFill/>
          <a:ln w="19050">
            <a:solidFill>
              <a:srgbClr val="F04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000" y="3757315"/>
            <a:ext cx="838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8B25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"FinSoko exceeds minimum regulatory requirements. Where the law says 'may,' we say 'must.'"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finsoko-slides/de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6950"/>
            <a:ext cx="853440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The Ethical Stack: Layers of Protection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269950" y="550000"/>
            <a:ext cx="6603950" cy="272951"/>
          </a:xfrm>
          <a:prstGeom prst="roundRect">
            <a:avLst>
              <a:gd name="adj" fmla="val 18611"/>
            </a:avLst>
          </a:prstGeom>
          <a:solidFill>
            <a:srgbClr val="EBB8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422350" y="610275"/>
            <a:ext cx="7263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1A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 (Base)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082552" y="600750"/>
            <a:ext cx="239949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1A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OASIS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29819" y="610275"/>
            <a:ext cx="4060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1A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handled with consent, anonymized, stored locally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78050" y="1300000"/>
            <a:ext cx="5587901" cy="272951"/>
          </a:xfrm>
          <a:prstGeom prst="roundRect">
            <a:avLst>
              <a:gd name="adj" fmla="val 18611"/>
            </a:avLst>
          </a:prstGeom>
          <a:solidFill>
            <a:srgbClr val="D880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930450" y="1360275"/>
            <a:ext cx="7710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1A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90651" y="1350750"/>
            <a:ext cx="195933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1A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TRACK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99334" y="1360275"/>
            <a:ext cx="35567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1A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Training data audited for bias before decisions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0" y="2100000"/>
            <a:ext cx="4572000" cy="406301"/>
          </a:xfrm>
          <a:prstGeom prst="roundRect">
            <a:avLst>
              <a:gd name="adj" fmla="val 12503"/>
            </a:avLst>
          </a:prstGeom>
          <a:solidFill>
            <a:srgbClr val="B85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438400" y="2226950"/>
            <a:ext cx="7710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98602" y="2217425"/>
            <a:ext cx="151898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PRIDE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68552" y="2150750"/>
            <a:ext cx="2453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Human checkpoints, Pause Points, Elders Council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93950" y="3000000"/>
            <a:ext cx="3555950" cy="400000"/>
          </a:xfrm>
          <a:prstGeom prst="roundRect">
            <a:avLst>
              <a:gd name="adj" fmla="val 7144"/>
            </a:avLst>
          </a:prstGeom>
          <a:solidFill>
            <a:srgbClr val="8B2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946350" y="3200000"/>
            <a:ext cx="7710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06552" y="3190000"/>
            <a:ext cx="107882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ETHOS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37918" y="3020000"/>
            <a:ext cx="1742562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Moral compass: Empathy, Transparency, Human Impact, Ownership, Sovereignty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02050" y="3550000"/>
            <a:ext cx="2539901" cy="500000"/>
          </a:xfrm>
          <a:prstGeom prst="roundRect">
            <a:avLst>
              <a:gd name="adj" fmla="val 5883"/>
            </a:avLst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454450" y="3750000"/>
            <a:ext cx="7263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 (Top)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651" y="3740000"/>
            <a:ext cx="63847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HORIZON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07285" y="3570000"/>
            <a:ext cx="1031379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Long-term thinking, historical harm, intergenerational impact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13360" y="41500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0482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"Ethics is not a section in our documentation. It is the architecture itself."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13360" y="43500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finsoko-slides/dark-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41A00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/home/z/my-project/public/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000" y="1300000"/>
            <a:ext cx="896000" cy="89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1979265"/>
            <a:ext cx="8595211" cy="56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Agent Pride Blueprint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939254" y="2847826"/>
            <a:ext cx="726549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How FinSoko's Three Agents Work Together — And How We Keep Them Safe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38302" y="3317677"/>
            <a:ext cx="6667396" cy="43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5"/>
              </a:lnSpc>
              <a:spcAft>
                <a:spcPts val="1200"/>
              </a:spcAft>
              <a:buNone/>
            </a:pPr>
            <a:r>
              <a:rPr lang="en-US" sz="1100" i="1" dirty="0">
                <a:solidFill>
                  <a:srgbClr val="2EC4B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"An agent without authority limits is a liability. An agent without memory architecture is a liability. An agent without a kill switch is a liability."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639556" y="3875187"/>
            <a:ext cx="3864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Phase 4: Agent Savannah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2251"/>
            <a:ext cx="853440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RANK: Who Can Do What?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302050" y="1413570"/>
            <a:ext cx="2539901" cy="628352"/>
          </a:xfrm>
          <a:prstGeom prst="roundRect">
            <a:avLst>
              <a:gd name="adj" fmla="val 8085"/>
            </a:avLst>
          </a:prstGeom>
          <a:solidFill>
            <a:srgbClr val="EC79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83145" y="1476970"/>
            <a:ext cx="257770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HUNTER — Level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5138" y="1673721"/>
            <a:ext cx="22937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Recommend only — NEVER approve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40050" y="2105323"/>
            <a:ext cx="4063901" cy="475952"/>
          </a:xfrm>
          <a:prstGeom prst="roundRect">
            <a:avLst>
              <a:gd name="adj" fmla="val 10673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32325" y="2168723"/>
            <a:ext cx="407934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GUARDIAN — Level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32325" y="2365474"/>
            <a:ext cx="40793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Conditionally approve ≤KES 15K, score ≥90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50950" y="2644676"/>
            <a:ext cx="5841950" cy="475952"/>
          </a:xfrm>
          <a:prstGeom prst="roundRect">
            <a:avLst>
              <a:gd name="adj" fmla="val 10673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54324" y="2708077"/>
            <a:ext cx="603520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SCOUT — Level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324" y="2904827"/>
            <a:ext cx="6035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Observe and refer — zero decisions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4061371"/>
            <a:ext cx="3911650" cy="828229"/>
          </a:xfrm>
          <a:prstGeom prst="rect">
            <a:avLst/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8650" y="4061371"/>
            <a:ext cx="0" cy="828229"/>
          </a:xfrm>
          <a:prstGeom prst="line">
            <a:avLst/>
          </a:prstGeom>
          <a:noFill/>
          <a:ln w="38100">
            <a:solidFill>
              <a:srgbClr val="F04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201" y="4124771"/>
            <a:ext cx="40376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N — Notification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201" y="4302472"/>
            <a:ext cx="385407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Scout→Guardian (context) → Hunter→Officer (briefing) → Kill Switch→ALL + Elders Council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22750" y="4061371"/>
            <a:ext cx="3911650" cy="828229"/>
          </a:xfrm>
          <a:prstGeom prst="rect">
            <a:avLst/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41800" y="4061371"/>
            <a:ext cx="0" cy="828229"/>
          </a:xfrm>
          <a:prstGeom prst="line">
            <a:avLst/>
          </a:prstGeom>
          <a:noFill/>
          <a:ln w="38100">
            <a:solidFill>
              <a:srgbClr val="F04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2351" y="4124771"/>
            <a:ext cx="40376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K — Kill Switch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2351" y="4302472"/>
            <a:ext cx="3854075" cy="56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Scout: &gt;100 referrals/hr. Guardian: demographic denial &gt;30%. Hunter: missing counterfactuals. System: Elders Council.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finsoko-slides/light-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84150"/>
          </a:xfrm>
          <a:prstGeom prst="rect">
            <a:avLst/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144363"/>
            <a:ext cx="5731356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TRAIL: What Does Each Agent Remember?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09600" y="634901"/>
            <a:ext cx="2412950" cy="1494979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34901"/>
            <a:ext cx="2412950" cy="406301"/>
          </a:xfrm>
          <a:prstGeom prst="rect">
            <a:avLst/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11101" y="685651"/>
            <a:ext cx="28729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SCOUT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1101" y="838051"/>
            <a:ext cx="27403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 — Transient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1101" y="1091952"/>
            <a:ext cx="2320446" cy="56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Current session only. Keywords, language, member ID. Wiped after handoff.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1101" y="1653778"/>
            <a:ext cx="2209949" cy="425351"/>
          </a:xfrm>
          <a:prstGeom prst="roundRect">
            <a:avLst>
              <a:gd name="adj" fmla="val 8957"/>
            </a:avLst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87301" y="1691878"/>
            <a:ext cx="216042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25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Grace's session deleted after passing to Guardian.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49501" y="634901"/>
            <a:ext cx="2412950" cy="1320403"/>
          </a:xfrm>
          <a:prstGeom prst="roundRect">
            <a:avLst>
              <a:gd name="adj" fmla="val 7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149501" y="634901"/>
            <a:ext cx="2412950" cy="406301"/>
          </a:xfrm>
          <a:prstGeom prst="rect">
            <a:avLst/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51002" y="685651"/>
            <a:ext cx="28729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GUARDIAN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51002" y="838051"/>
            <a:ext cx="27403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 — Relational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51002" y="1091952"/>
            <a:ext cx="2320446" cy="56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Active loan + 6 months. Profile, income patterns, scores, flags. Anonymized after retention.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51002" y="1653778"/>
            <a:ext cx="2209949" cy="250775"/>
          </a:xfrm>
          <a:prstGeom prst="roundRect">
            <a:avLst>
              <a:gd name="adj" fmla="val 15193"/>
            </a:avLst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327202" y="1691878"/>
            <a:ext cx="2427908" cy="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25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Grace's harvest-aligned profile.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89402" y="634901"/>
            <a:ext cx="2412950" cy="1320403"/>
          </a:xfrm>
          <a:prstGeom prst="roundRect">
            <a:avLst>
              <a:gd name="adj" fmla="val 7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89402" y="634901"/>
            <a:ext cx="2412950" cy="406301"/>
          </a:xfrm>
          <a:prstGeom prst="rect">
            <a:avLst/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790902" y="685651"/>
            <a:ext cx="28729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482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HUNTER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90902" y="838051"/>
            <a:ext cx="27403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 — Archival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90902" y="1091952"/>
            <a:ext cx="2320446" cy="56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Permanent audit trail. Full case history, decisions, counterfactuals. Never deleted.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90902" y="1653778"/>
            <a:ext cx="2209949" cy="250775"/>
          </a:xfrm>
          <a:prstGeom prst="roundRect">
            <a:avLst>
              <a:gd name="adj" fmla="val 15193"/>
            </a:avLst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867102" y="1691878"/>
            <a:ext cx="2427908" cy="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25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Amina's complete case file.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9600" y="4273897"/>
            <a:ext cx="3911650" cy="615702"/>
          </a:xfrm>
          <a:prstGeom prst="roundRect">
            <a:avLst>
              <a:gd name="adj" fmla="val 12376"/>
            </a:avLst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11101" y="4324648"/>
            <a:ext cx="40795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 — Inheritance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11101" y="4489698"/>
            <a:ext cx="389408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Context packets pass between agents. Minimum context only. No data tourism.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622750" y="4273897"/>
            <a:ext cx="3911650" cy="615702"/>
          </a:xfrm>
          <a:prstGeom prst="roundRect">
            <a:avLst>
              <a:gd name="adj" fmla="val 12376"/>
            </a:avLst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24251" y="4324648"/>
            <a:ext cx="40795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L — Land Rights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24251" y="4489698"/>
            <a:ext cx="389408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belongs to member + SACCO. Agents are custodians, not owners.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2251"/>
            <a:ext cx="853440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HUNT: How Agents Hand Off to Each Other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434233" y="498277"/>
            <a:ext cx="767804" cy="228600"/>
          </a:xfrm>
          <a:prstGeom prst="roundRect">
            <a:avLst>
              <a:gd name="adj" fmla="val 22222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73834" y="536377"/>
            <a:ext cx="63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52788" y="536377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3139" y="498277"/>
            <a:ext cx="1031528" cy="228600"/>
          </a:xfrm>
          <a:prstGeom prst="roundRect">
            <a:avLst>
              <a:gd name="adj" fmla="val 22222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82739" y="536377"/>
            <a:ext cx="9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GUARDIAN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5417" y="536377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15768" y="498277"/>
            <a:ext cx="860971" cy="228600"/>
          </a:xfrm>
          <a:prstGeom prst="roundRect">
            <a:avLst>
              <a:gd name="adj" fmla="val 22222"/>
            </a:avLst>
          </a:prstGeom>
          <a:solidFill>
            <a:srgbClr val="EC79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5369" y="536377"/>
            <a:ext cx="756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HUNTER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7489" y="536377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17840" y="498277"/>
            <a:ext cx="891927" cy="228600"/>
          </a:xfrm>
          <a:prstGeom prst="roundRect">
            <a:avLst>
              <a:gd name="adj" fmla="val 22222"/>
            </a:avLst>
          </a:prstGeom>
          <a:solidFill>
            <a:srgbClr val="B85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57441" y="536377"/>
            <a:ext cx="7965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OFFICER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" y="195917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6934" y="2025848"/>
            <a:ext cx="14317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5901" y="1959173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 — Handoff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5901" y="2124224"/>
            <a:ext cx="78944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Structured context packet, logged with timestamp/reason/confidence. Receiver acknowledges within 30 sec. If 2 min → alert officer. Scout→Guardian: stress signal + member ID. Guardian→Hunter: score + counterfactual.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25367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6934" y="2603450"/>
            <a:ext cx="14317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5901" y="2536775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U — Unified Context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15901" y="2701826"/>
            <a:ext cx="8128099" cy="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Each handoff adds to context chain. No agent works from partial info. Incomplete context → failed handoff → officer alert.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600" y="2939802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B85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6934" y="3006477"/>
            <a:ext cx="14317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5901" y="2939802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N — Negotiation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5901" y="3104852"/>
            <a:ext cx="8128099" cy="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Agents don't argue — they escalate. Conflicting assessments go to human officer.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600" y="334282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79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5417" y="3409504"/>
            <a:ext cx="12111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5901" y="3342829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 — Termination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5901" y="3507879"/>
            <a:ext cx="8128099" cy="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chain ends with human decision: Approved, Denied, Modified, or Deferred. Logged permanently.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finsoko-slides/de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01501"/>
            <a:ext cx="853440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GUARD: The Safety Rails That Keep Agents in Line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25625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02618" y="1322933"/>
            <a:ext cx="15420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15901" y="1256258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15901" y="1421309"/>
            <a:ext cx="78944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Dignity filter (no 'risky', 'unreliable', 'bad credit'). Every denial includes alternative path. James: 'We can approve KES 35,000 with comfortable repayments.'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9600" y="183386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06934" y="1900535"/>
            <a:ext cx="14317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15901" y="1833860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Unusual Pattern Detection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15901" y="1998911"/>
            <a:ext cx="78944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County denial spikes, officer rubber-stamping (&gt;90% approval), score drift &gt;10% month-over-month. Busia's 71% caught by this.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9600" y="241146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06934" y="2478137"/>
            <a:ext cx="14317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15901" y="2411462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5901" y="2576513"/>
            <a:ext cx="78944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decision logged: timestamp, agent ID, member ID, inputs, score, flags, officer ID, decision, reasoning. Accessible to Elders Council, SASRA, members.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9600" y="298906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06934" y="3055739"/>
            <a:ext cx="14317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15901" y="2989064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Red Team Testing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5901" y="3154114"/>
            <a:ext cx="78944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Deliberately try to break system. Unqualified → denied with dignity. Borderline → escalated. Adversarial → blocked. Pilot: 3 dignity gaps fixed, 2 taxonomies added.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9600" y="356666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06934" y="3633341"/>
            <a:ext cx="14317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15901" y="3566666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Dignity-First Design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15901" y="3731716"/>
            <a:ext cx="78944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Would I read this to the member's face? Does it preserve agency? Is there an alternative path? Any 'no' → blocked and regenerated.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finsoko-slides/light-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84150"/>
          </a:xfrm>
          <a:prstGeom prst="rect">
            <a:avLst/>
          </a:prstGeom>
          <a:solidFill>
            <a:srgbClr val="641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144363"/>
            <a:ext cx="5892448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CYCLE: How We Learn From Every Decision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784747" y="622250"/>
            <a:ext cx="877788" cy="203002"/>
          </a:xfrm>
          <a:prstGeom prst="roundRect">
            <a:avLst>
              <a:gd name="adj" fmla="val 18768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886248" y="647551"/>
            <a:ext cx="8772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CAPTURE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675186" y="647551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827437" y="622250"/>
            <a:ext cx="614214" cy="203002"/>
          </a:xfrm>
          <a:prstGeom prst="roundRect">
            <a:avLst>
              <a:gd name="adj" fmla="val 18768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928938" y="647551"/>
            <a:ext cx="534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YIELD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54301" y="647551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06552" y="622250"/>
            <a:ext cx="893266" cy="203002"/>
          </a:xfrm>
          <a:prstGeom prst="roundRect">
            <a:avLst>
              <a:gd name="adj" fmla="val 18768"/>
            </a:avLst>
          </a:prstGeom>
          <a:solidFill>
            <a:srgbClr val="B85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708053" y="647551"/>
            <a:ext cx="897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CORRECT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12469" y="647551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64720" y="622250"/>
            <a:ext cx="880318" cy="203002"/>
          </a:xfrm>
          <a:prstGeom prst="roundRect">
            <a:avLst>
              <a:gd name="adj" fmla="val 18768"/>
            </a:avLst>
          </a:prstGeom>
          <a:solidFill>
            <a:srgbClr val="EC79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66221" y="647551"/>
            <a:ext cx="88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57689" y="647551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09940" y="622250"/>
            <a:ext cx="808137" cy="203002"/>
          </a:xfrm>
          <a:prstGeom prst="roundRect">
            <a:avLst>
              <a:gd name="adj" fmla="val 18768"/>
            </a:avLst>
          </a:prstGeom>
          <a:solidFill>
            <a:srgbClr val="8B2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811441" y="647551"/>
            <a:ext cx="786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EXPLAIN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0727" y="647551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82978" y="622250"/>
            <a:ext cx="676275" cy="203002"/>
          </a:xfrm>
          <a:prstGeom prst="roundRect">
            <a:avLst>
              <a:gd name="adj" fmla="val 18768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784479" y="647551"/>
            <a:ext cx="6152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CYCLE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9600" y="168934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06934" y="1756023"/>
            <a:ext cx="14317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15901" y="1689348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Capture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15901" y="1854398"/>
            <a:ext cx="78944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loan outcome recorded. Member feedback via USSD. Grace: repaid on time. Amina: repaid, taxonomy updated. James: repaid, boda boda recalibration suggested.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9600" y="224164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11101" y="2308324"/>
            <a:ext cx="13214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15901" y="2241649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Yield Insights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15901" y="2406700"/>
            <a:ext cx="78944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Harvest-aligned: 94% on-time vs 71% calendar-based. Boda boda default: 2.1% actual vs 4.5% predicted. Financial literacy SMS: 23% more likely to reapply.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9600" y="27939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06934" y="2860625"/>
            <a:ext cx="14317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15901" y="2793950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Course-Correct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15901" y="2959001"/>
            <a:ext cx="78944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Default to harvest-aligned for agricultural. Recalibrate boda boda model. Increase Scout SMS frequency for new members.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09600" y="33462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15417" y="3412927"/>
            <a:ext cx="12111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L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15901" y="3346252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Loop Validation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15901" y="3511302"/>
            <a:ext cx="8128099" cy="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Counterfactual tests, Red Team re-test, Elders Council review before deploying changes.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09600" y="37239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711101" y="3790652"/>
            <a:ext cx="13214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015901" y="3723977"/>
            <a:ext cx="8128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Explain Decisions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15901" y="3889028"/>
            <a:ext cx="8128099" cy="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8503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change documented: what, why, data, expected impact, rollback plan. Accessible to regulators and members.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13360" y="49149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2251"/>
            <a:ext cx="8534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The Complete Agent Architecture: All Five Frameworks, One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645" y="453777"/>
            <a:ext cx="965150" cy="475952"/>
          </a:xfrm>
          <a:prstGeom prst="roundRect">
            <a:avLst>
              <a:gd name="adj" fmla="val 1601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1992" y="517178"/>
            <a:ext cx="85845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RANK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31992" y="713929"/>
            <a:ext cx="85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69096" y="615553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33998" y="453777"/>
            <a:ext cx="965150" cy="475952"/>
          </a:xfrm>
          <a:prstGeom prst="roundRect">
            <a:avLst>
              <a:gd name="adj" fmla="val 16010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87345" y="517178"/>
            <a:ext cx="85845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TRAIL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87345" y="713929"/>
            <a:ext cx="85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Memory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24449" y="615553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89350" y="453777"/>
            <a:ext cx="965150" cy="475952"/>
          </a:xfrm>
          <a:prstGeom prst="roundRect">
            <a:avLst>
              <a:gd name="adj" fmla="val 16010"/>
            </a:avLst>
          </a:prstGeom>
          <a:solidFill>
            <a:srgbClr val="B85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42698" y="517178"/>
            <a:ext cx="85845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42698" y="713929"/>
            <a:ext cx="85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Handoff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802" y="615553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44703" y="453777"/>
            <a:ext cx="965150" cy="475952"/>
          </a:xfrm>
          <a:prstGeom prst="roundRect">
            <a:avLst>
              <a:gd name="adj" fmla="val 16010"/>
            </a:avLst>
          </a:prstGeom>
          <a:solidFill>
            <a:srgbClr val="EC79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98051" y="517178"/>
            <a:ext cx="85845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GUARD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98051" y="713929"/>
            <a:ext cx="85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Safety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5154" y="615553"/>
            <a:ext cx="181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056" y="453777"/>
            <a:ext cx="965150" cy="475952"/>
          </a:xfrm>
          <a:prstGeom prst="roundRect">
            <a:avLst>
              <a:gd name="adj" fmla="val 16010"/>
            </a:avLst>
          </a:prstGeom>
          <a:solidFill>
            <a:srgbClr val="8B2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53403" y="517178"/>
            <a:ext cx="85845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CYCLE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53403" y="713929"/>
            <a:ext cx="85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600" y="993130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25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Safety Guarantee: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120253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74650" y="1170831"/>
            <a:ext cx="42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25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agent approves without human oversight (above KES 15K)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600" y="138023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4650" y="1348532"/>
            <a:ext cx="20055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25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unexplainable decisions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600" y="155793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74650" y="1526232"/>
            <a:ext cx="2445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25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data retained beyond purpose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9600" y="173563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74650" y="1703933"/>
            <a:ext cx="20327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25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agent without Kill Switch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9600" y="191333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04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74650" y="1881634"/>
            <a:ext cx="21063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25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change without validation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9600" y="2059335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Live demo: finsoko-portfolio-mw69.vercel.app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9600" y="2237036"/>
            <a:ext cx="7924800" cy="431602"/>
          </a:xfrm>
          <a:prstGeom prst="roundRect">
            <a:avLst>
              <a:gd name="adj" fmla="val 17655"/>
            </a:avLst>
          </a:prstGeom>
          <a:solidFill>
            <a:srgbClr val="F5DC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28650" y="2237036"/>
            <a:ext cx="0" cy="431602"/>
          </a:xfrm>
          <a:prstGeom prst="line">
            <a:avLst/>
          </a:prstGeom>
          <a:noFill/>
          <a:ln w="38100">
            <a:solidFill>
              <a:srgbClr val="F04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" y="2300436"/>
            <a:ext cx="79609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8B250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"We didn't build agents and add safety rails. We designed the safety rails first, then built agents that fit within them. The constraints are not limitations — they are the architecture."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3360" y="2693938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80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Anthony Musyoka &amp; Jonah Terry | Pride Leader Capstone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FinSoko AI Safari Portfolio — Ethical Architecture Dossier &amp; Agent Pride Blueprint</dc:title>
  <dc:subject>Pride Leader Capstone 2025</dc:subject>
  <dc:creator>Anthony Musyoka &amp; Jonah Terry</dc:creator>
  <cp:lastModifiedBy>Anthony Musyoka &amp; Jonah Terry</cp:lastModifiedBy>
  <cp:revision>1</cp:revision>
  <dcterms:created xsi:type="dcterms:W3CDTF">2026-06-04T21:50:29Z</dcterms:created>
  <dcterms:modified xsi:type="dcterms:W3CDTF">2026-06-04T21:50:29Z</dcterms:modified>
</cp:coreProperties>
</file>